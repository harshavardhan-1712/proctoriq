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B34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41B34"/>
                </a:solidFill>
                <a:latin typeface="Arial"/>
              </a:rPr>
              <a:t>Priority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MoSCoW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B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A7-4CCA-81E3-90FBAD621F32}"/>
              </c:ext>
            </c:extLst>
          </c:dPt>
          <c:dPt>
            <c:idx val="1"/>
            <c:bubble3D val="0"/>
            <c:spPr>
              <a:solidFill>
                <a:srgbClr val="6B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A7-4CCA-81E3-90FBAD621F32}"/>
              </c:ext>
            </c:extLst>
          </c:dPt>
          <c:dPt>
            <c:idx val="2"/>
            <c:bubble3D val="0"/>
            <c:spPr>
              <a:solidFill>
                <a:srgbClr val="97A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A7-4CCA-81E3-90FBAD621F32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A7-4CCA-81E3-90FBAD621F32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A7-4CCA-81E3-90FBAD621F32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DA7-4CCA-81E3-90FBAD621F3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Must have</c:v>
                </c:pt>
                <c:pt idx="1">
                  <c:v>Should have</c:v>
                </c:pt>
                <c:pt idx="2">
                  <c:v>Could have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A7-4CCA-81E3-90FBAD621F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B34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41B34"/>
                </a:solidFill>
                <a:latin typeface="Arial"/>
              </a:rPr>
              <a:t>Effort by Activity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Effort (hours)</c:v>
                </c:pt>
              </c:strCache>
            </c:strRef>
          </c:tx>
          <c:spPr>
            <a:solidFill>
              <a:srgbClr val="141B3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66-41CE-B67C-D04DEDD96AB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66-41CE-B67C-D04DEDD96AB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C66-41CE-B67C-D04DEDD96AB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C66-41CE-B67C-D04DEDD96AB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C66-41CE-B67C-D04DEDD96AB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557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Development</c:v>
                </c:pt>
                <c:pt idx="1">
                  <c:v>Data Analysis</c:v>
                </c:pt>
                <c:pt idx="2">
                  <c:v>Data Science</c:v>
                </c:pt>
                <c:pt idx="3">
                  <c:v>AI Integration</c:v>
                </c:pt>
                <c:pt idx="4">
                  <c:v>Testing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66-41CE-B67C-D04DEDD96A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B34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41B34"/>
                </a:solidFill>
                <a:latin typeface="Arial"/>
              </a:rPr>
              <a:t>By Defect Type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Defect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B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5D-4448-9A03-FE41DBFAA635}"/>
              </c:ext>
            </c:extLst>
          </c:dPt>
          <c:dPt>
            <c:idx val="1"/>
            <c:bubble3D val="0"/>
            <c:spPr>
              <a:solidFill>
                <a:srgbClr val="F2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5D-4448-9A03-FE41DBFAA635}"/>
              </c:ext>
            </c:extLst>
          </c:dPt>
          <c:dPt>
            <c:idx val="2"/>
            <c:bubble3D val="0"/>
            <c:spPr>
              <a:solidFill>
                <a:srgbClr val="97A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5D-4448-9A03-FE41DBFAA635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5D-4448-9A03-FE41DBFAA635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5D-4448-9A03-FE41DBFAA635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5D-4448-9A03-FE41DBFAA63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Maintainability</c:v>
                </c:pt>
                <c:pt idx="1">
                  <c:v>Logical</c:v>
                </c:pt>
                <c:pt idx="2">
                  <c:v>Standards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5D-4448-9A03-FE41DBFAA6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B34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41B34"/>
                </a:solidFill>
                <a:latin typeface="Arial"/>
              </a:rPr>
              <a:t>Coverage by Area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141B3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591-46BF-AF00-DC2E5C89005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591-46BF-AF00-DC2E5C89005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591-46BF-AF00-DC2E5C89005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591-46BF-AF00-DC2E5C89005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591-46BF-AF00-DC2E5C8900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A557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Assessment flow</c:v>
                </c:pt>
                <c:pt idx="1">
                  <c:v>Browser monitoring</c:v>
                </c:pt>
                <c:pt idx="2">
                  <c:v>Camera &amp; face</c:v>
                </c:pt>
                <c:pt idx="3">
                  <c:v>Analytics / ML / AI</c:v>
                </c:pt>
                <c:pt idx="4">
                  <c:v>Integrity &amp; risk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591-46BF-AF00-DC2E5C8900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93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deliverable presentation for ProctorIQ: an online examination platform combining MCQ assessment, camera and browser monitoring, integrity scoring, behavioural analytics and reporting. Deliverables covered: Agile report, defect tracker and unit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pillars map directly to the user stories in the product backlog: assessment engine, camera/face validation, browser monitoring and integrity scoring, then the analytics layer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Flask architecture. The amber band is the service layer, where all monitoring and integrity logic lives — routes stay thin and the data layer stays unaware of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eight stories closed. Must-have stories cover the core exam and monitoring path; Should/Could cover the analytics and AI reporting layer, which were scoped as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Effort tracked at 80 hours against an 80-hour original estimate. Development dominates; the analytics, data science, AI and testing activities were deliberately time-boxed in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stand-ups logged across two sprints. The recurring theme was integration risk — the retrospectives converted that into concrete process changes rather than general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defect was traced to a root cause and closed within the sprint it was found. Note defect 3 is explicitly a local-demo workaround, with production CSRF protection retained — recorded rather than quietly left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is weighted toward the monitoring and assessment paths, which carry the most risk. Integrity and risk logic was validated with purpose-built synthetic sessions rather than only happy-path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distinction to make when presenting: the clustering is an analytical aid for reviewers, not an automatic decision-maker. Cluster meanings are derived from centroid feature values each run, not hard-coded.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what the CV layer does and does not claim — Haar Cascade handles presence and count; anything beyond that would require a different model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traceability — that is the strongest point of the deliverable set. Every capability can be traced from the backlog through to an executed test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Including this slide is deliberate. Naming the limitations precisely — especially the Haar Cascade false-positive behaviour and the local CSRF setting — is more credible than claiming the system is complete, and it sets up the roadmap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three template deliverables plus the working platform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43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243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REPORT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ProctorIQ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Examination Monitoring Platform with</a:t>
            </a: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Analysis &amp; Reporting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005840" cy="320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Vardhan B S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ProctorIQ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online examination platform that delivers MCQ assessments while continuously verifying examination integrity — then turns the resulting event data into analysis a reviewer can act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377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MCQ engine with navigation, palette, autosave, review flags and submission.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21031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21024" y="2377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621024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Pre-assessment camera validation plus continuous face and browser monitoring.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1031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37376" y="2377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37376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violation events produce an integrity score and a risk classification.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97696" y="21031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253728" y="2377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253728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session analytics and K-Means clustering surface behavioural cohorts.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68680" y="4828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delivered:  </a:t>
            </a: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user stories  ·  10 sprint tasks  ·  2 sprints  ·  5 defects logged and closed  ·  16 unit test cases executed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ProctorIQ Internship Deliverables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863840" cy="932688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545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· assessment UI · question palette · monitoring panel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05456"/>
            <a:ext cx="7863840" cy="932688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6868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(Blueprints)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6265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Assessment · Monitoring · Analytics · Reporting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93592"/>
            <a:ext cx="7863840" cy="932688"/>
          </a:xfrm>
          <a:prstGeom prst="roundRect">
            <a:avLst>
              <a:gd name="adj" fmla="val 5882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68680" y="3721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5079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service · Face detection · Browser monitoring · Integrity engine · Analytics · Reporting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81728"/>
            <a:ext cx="7863840" cy="932688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68680" y="4809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389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— assessments, questions, sessions, answers, violation events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0" y="1417320"/>
            <a:ext cx="2953512" cy="4233672"/>
          </a:xfrm>
          <a:prstGeom prst="roundRect">
            <a:avLst>
              <a:gd name="adj" fmla="val 2477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979408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210312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services, not in routes or templates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thresholds are configuration, never hard-coded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authoritative for exam state and scoring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and analytics stay strictly separate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— 8 User Stories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01000" cy="3456432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a timed online MCQ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Pre-assessment camera and face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browser activity and focus 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no-face and multiple-face 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integrity score and risk label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session data with Pandas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clustering of session behaviour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integrity report with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8732520" y="1600200"/>
          <a:ext cx="29260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8732520" y="4434840"/>
            <a:ext cx="2907792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 txBox="1"/>
          <p:nvPr/>
        </p:nvSpPr>
        <p:spPr>
          <a:xfrm>
            <a:off x="9006840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9006840" y="5102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backlog stories completed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Execution — 80 Hours Across 10 Tasks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583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81328"/>
            <a:ext cx="418795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7726680" y="16459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887968" y="1682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887968" y="1993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17–21 Aug · 24–28 Aug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52360" y="2578608"/>
            <a:ext cx="418795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726680" y="27432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27797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87968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completed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52360" y="3675888"/>
            <a:ext cx="418795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7726680" y="38404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80h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887968" y="38770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887968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met exactly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868680" y="5212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flow, browser monitoring, camera validation     </a:t>
            </a: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</a:t>
            </a: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scoring, analytics, clustering, AI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Impediments and Retrospectives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IMPEDIMENTS RAISED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78992" y="1856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event logging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1488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browser-monitor events from session-level fullscreen handling.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04672" y="299923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078992" y="2862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service compatibility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31546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canonical camera flow; verified one-face validation.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4672" y="400507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078992" y="3867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session features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Pandas summaries as consistent analytics inputs.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4672" y="501091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78992" y="4873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 external AI access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51663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deterministic fallback for report generation.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OUTCOMES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1719072"/>
            <a:ext cx="5285232" cy="1874520"/>
          </a:xfrm>
          <a:prstGeom prst="roundRect">
            <a:avLst>
              <a:gd name="adj" fmla="val 2927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62940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2402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assessment and monitoring integrated cleanly in Sprint 1.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scoring, analytics, clustering and reporting all landed in Sprint 2.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3703320"/>
            <a:ext cx="5285232" cy="1947672"/>
          </a:xfrm>
          <a:prstGeom prst="roundRect">
            <a:avLst>
              <a:gd name="adj" fmla="val 3756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62940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changed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224528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each module immediately after integration.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on a Python 3.12 environment for dependency compatibility.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incremental smoke tests using representative sessions.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Management — 5 Logged, 5 Closed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01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27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service regression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1965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canonical camera service and revalidated lifecycle methods.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5361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819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536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8001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2478024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772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white screen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97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template inheritance so content renders in the base content block.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4140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8001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" y="3355848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7724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282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 blocked local POSTs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5753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CSRF for local demo only — production retains protection.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5753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3291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50792"/>
            <a:ext cx="8001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7240" y="4233672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7724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Unused detection constants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4531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detection with configured scale, neighbours and min face size.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1696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453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4169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928616"/>
            <a:ext cx="80010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77240" y="5111496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777240" y="5111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5038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compatibility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234440" y="53309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Python 3.12 virtual environment; requirements install cleanly.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50474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53309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001000" y="50474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8732520" y="1508760"/>
          <a:ext cx="29260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Shape 42"/>
          <p:cNvSpPr/>
          <p:nvPr/>
        </p:nvSpPr>
        <p:spPr>
          <a:xfrm>
            <a:off x="8732520" y="4389120"/>
            <a:ext cx="290779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900684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47" name="Text 44"/>
          <p:cNvSpPr txBox="1"/>
          <p:nvPr/>
        </p:nvSpPr>
        <p:spPr>
          <a:xfrm>
            <a:off x="9006840" y="5047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left open at handover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/ S2 = sprint in which the defect was detected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— 16 Cases Across 5 Areas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0350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0372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CASES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810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1810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No-face detection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810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recorded and reflected in risk calculation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4688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TC03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Multiple-face detection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088136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Multiple-face event recorded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31272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TC07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switch monitoring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3127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3374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Tab-switch event recorded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37856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3785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score calculation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0881360" y="37856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4032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follows configured deductions and range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4443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44439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4443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543800" y="4690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 generated for sessions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5102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TC15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543800" y="51023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fallback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5102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report produced when AI unavailable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475488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86868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 </a:t>
            </a: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passed — validated against synthetic low, medium and high-risk sessions.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Events to Behavioural Cohorts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965960"/>
          </a:xfrm>
          <a:prstGeom prst="roundRect">
            <a:avLst>
              <a:gd name="adj" fmla="val 2791"/>
            </a:avLst>
          </a:prstGeom>
          <a:solidFill>
            <a:srgbClr val="24305C"/>
          </a:solidFill>
          <a:ln w="12700">
            <a:solidFill>
              <a:srgbClr val="3A46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&amp;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violation events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monitoring records captured during the exam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16352" y="1600200"/>
            <a:ext cx="2084832" cy="1965960"/>
          </a:xfrm>
          <a:prstGeom prst="roundRect">
            <a:avLst>
              <a:gd name="adj" fmla="val 2791"/>
            </a:avLst>
          </a:prstGeom>
          <a:solidFill>
            <a:srgbClr val="24305C"/>
          </a:solidFill>
          <a:ln w="12700">
            <a:solidFill>
              <a:srgbClr val="3A46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980944" y="17830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behavioural features assembled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84064" y="1600200"/>
            <a:ext cx="2084832" cy="1965960"/>
          </a:xfrm>
          <a:prstGeom prst="roundRect">
            <a:avLst>
              <a:gd name="adj" fmla="val 2791"/>
            </a:avLst>
          </a:prstGeom>
          <a:solidFill>
            <a:srgbClr val="24305C"/>
          </a:solidFill>
          <a:ln w="12700">
            <a:solidFill>
              <a:srgbClr val="3A46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248656" y="17830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+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matrix, normalised for comparability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87184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51776" y="1600200"/>
            <a:ext cx="2084832" cy="1965960"/>
          </a:xfrm>
          <a:prstGeom prst="roundRect">
            <a:avLst>
              <a:gd name="adj" fmla="val 2791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516368" y="17830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16368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grouped into behavioural cohorts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454896" y="23317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19488" y="1600200"/>
            <a:ext cx="2084832" cy="1965960"/>
          </a:xfrm>
          <a:prstGeom prst="roundRect">
            <a:avLst>
              <a:gd name="adj" fmla="val 2791"/>
            </a:avLst>
          </a:prstGeom>
          <a:solidFill>
            <a:srgbClr val="24305C"/>
          </a:solidFill>
          <a:ln w="12700">
            <a:solidFill>
              <a:srgbClr val="3A46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784080" y="17830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26060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interpreted from centroid characteristics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24305C"/>
          </a:solidFill>
          <a:ln w="12700">
            <a:solidFill>
              <a:srgbClr val="3A46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68680" y="40965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clustering sits beside — not inside — the rule engine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4348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unsupervised and descriptive: it groups sessions by behavioural similarity and supports review. It never triggers a warning or a termination on its own.</a:t>
            </a:r>
            <a:endParaRPr lang="en-US" sz="1250" dirty="0"/>
          </a:p>
          <a:p>
            <a:pPr marL="0" indent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rule-based violation engine remains authoritative for every real-time decision, so a candidate is only ever penalised by explicit, configured, auditable thresholds.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310896" cy="320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04672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(Blueprints)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21024" y="1719072"/>
            <a:ext cx="310896" cy="320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21024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24028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classifier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face validation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46304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37376" y="1719072"/>
            <a:ext cx="310896" cy="320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37376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24028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(K-Means)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46304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253728" y="1719072"/>
            <a:ext cx="310896" cy="320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253728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24028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monitoring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68680" y="45811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scope:  </a:t>
            </a: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is used for face presence and face counting only — not for object detection, head-pose estimation or identity recognition.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16352" y="14173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816352" y="16002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tasks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84064" y="14173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084064" y="16002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80h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221224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against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80h estimate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51776" y="14173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351776" y="16002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488936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19488" y="14173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619488" y="16002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closed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91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SHIPPED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39312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MCQ engine with palette, autosave and review flags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Pre-assessment camera and single-face validation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face presence and multiple-face monitoring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639312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monitoring: tab switch, focus, copy/paste, fullscreen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integrity scoring with risk classification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analytics, K-Means cohorts and AI-assisted reporting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68680" y="54132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runs end to end: user story → sprint task → defect record → test case → result.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and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5532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847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 Cascade false positives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305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Face-like regions (for example a device in frame) can register as an extra face; temporal confirmation mitigates but does not eliminate this.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5532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shared camera model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95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camera service assumes one capture device per server process, which constrains true multi-candidate live video.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5532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" y="4005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needs volume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885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only meaningful once enough sessions exist; small cohorts produce unstable groupings.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956048"/>
            <a:ext cx="5532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12700" dir="5400000" algn="bl" rotWithShape="0">
              <a:srgbClr val="9AA5C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5084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 disabled for local demo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67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local-only configuration — production deployments must re-enable it.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STEPS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719072"/>
            <a:ext cx="5285232" cy="987552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83680" y="2011680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58368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1847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object detection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1305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COCO-class model to flag phones and notes — a separate model class from Haar Cascade.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2798064"/>
            <a:ext cx="5285232" cy="987552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83680" y="3090672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58368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Head-pose and gaze analysis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209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Landmark-based estimation to distinguish looking away from face absence.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877056"/>
            <a:ext cx="5285232" cy="987552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83680" y="4169664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58368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4005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Browser-side capture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428853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video capture to each candidate's browser to enable true multi-candidate monitoring.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4956048"/>
            <a:ext cx="5285232" cy="987552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583680" y="5248656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58368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50840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Examiner live console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59168" y="5367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candidate grid, risk indicators and session review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0"/>
            <a:ext cx="3840480" cy="3840480"/>
          </a:xfrm>
          <a:prstGeom prst="ellipse">
            <a:avLst/>
          </a:prstGeom>
          <a:solidFill>
            <a:srgbClr val="2430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05840" cy="32004"/>
          </a:xfrm>
          <a:prstGeom prst="rect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ProctorIQ — Smart Examination Monitoring Platform</a:t>
            </a:r>
            <a:endParaRPr lang="en-US" sz="16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Integrity Analysis &amp; Reporting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24305C"/>
          </a:solidFill>
          <a:ln w="12700">
            <a:solidFill>
              <a:srgbClr val="3A46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973568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SUBMITTED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73568" y="26974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Report — backlog, sprints, stand-ups, retrospectives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Tracker — 5 defects, classified and closed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Plan — 16 executed test cases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ProctorIQ platform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52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Vardhan B S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1626</Words>
  <Application>Microsoft Office PowerPoint</Application>
  <PresentationFormat>Widescreen</PresentationFormat>
  <Paragraphs>311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ProctorIQ — Final Deliverable Report</dc:title>
  <dc:subject>PptxGenJS Presentation</dc:subject>
  <dc:creator>Harsha Vardhan B S</dc:creator>
  <cp:lastModifiedBy>HARSHA VARDHAN</cp:lastModifiedBy>
  <cp:revision>2</cp:revision>
  <dcterms:created xsi:type="dcterms:W3CDTF">2026-09-17T15:59:17Z</dcterms:created>
  <dcterms:modified xsi:type="dcterms:W3CDTF">2026-09-18T00:47:09Z</dcterms:modified>
</cp:coreProperties>
</file>